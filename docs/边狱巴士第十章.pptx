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4"/>
  </p:handoutMasterIdLst>
  <p:sldIdLst>
    <p:sldId id="257" r:id="rId3"/>
    <p:sldId id="258" r:id="rId5"/>
    <p:sldId id="259" r:id="rId6"/>
    <p:sldId id="262" r:id="rId7"/>
    <p:sldId id="261" r:id="rId8"/>
    <p:sldId id="264" r:id="rId9"/>
    <p:sldId id="265" r:id="rId10"/>
    <p:sldId id="266" r:id="rId11"/>
    <p:sldId id="267" r:id="rId12"/>
    <p:sldId id="263" r:id="rId13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handoutMaster" Target="handoutMasters/handoutMaster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1117"/>
            <a:ext cx="7321550" cy="811357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/>
              <a:t>边狱巴士第十章</a:t>
            </a:r>
            <a:br>
              <a:rPr lang="zh-CN" altLang="en-US"/>
            </a:br>
            <a:r>
              <a:rPr lang="zh-CN" altLang="en-US"/>
              <a:t>第一周个人</a:t>
            </a:r>
            <a:r>
              <a:rPr lang="en-US" altLang="zh-CN"/>
              <a:t>ai</a:t>
            </a:r>
            <a:r>
              <a:rPr lang="zh-CN" altLang="en-US"/>
              <a:t>汉化分享</a:t>
            </a:r>
            <a:endParaRPr lang="zh-CN" altLang="en-US"/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>
          <a:xfrm>
            <a:off x="502285" y="3796665"/>
            <a:ext cx="600075" cy="1655445"/>
          </a:xfrm>
        </p:spPr>
        <p:txBody>
          <a:bodyPr>
            <a:normAutofit lnSpcReduction="20000"/>
          </a:bodyPr>
          <a:lstStyle/>
          <a:p>
            <a:pPr algn="l"/>
            <a:endParaRPr lang="en-US" altLang="zh-CN"/>
          </a:p>
          <a:p>
            <a:pPr algn="l"/>
            <a:endParaRPr lang="en-US" altLang="zh-CN"/>
          </a:p>
          <a:p>
            <a:pPr algn="l"/>
            <a:endParaRPr lang="en-US" altLang="zh-CN"/>
          </a:p>
          <a:p>
            <a:pPr algn="l"/>
            <a:endParaRPr lang="en-US" altLang="zh-CN"/>
          </a:p>
          <a:p>
            <a:pPr algn="l"/>
            <a:r>
              <a:rPr lang="en-US" altLang="zh-CN">
                <a:latin typeface="微软雅黑" panose="020B0503020204020204" charset="-122"/>
                <a:ea typeface="微软雅黑" panose="020B0503020204020204" charset="-122"/>
              </a:rPr>
              <a:t>up:</a:t>
            </a:r>
            <a:endParaRPr lang="en-US" altLang="zh-CN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765" y="4834890"/>
            <a:ext cx="2343150" cy="81915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559435" y="5819775"/>
            <a:ext cx="32677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2026.09.17</a:t>
            </a:r>
            <a:endParaRPr lang="en-US" altLang="zh-CN"/>
          </a:p>
        </p:txBody>
      </p:sp>
      <p:sp>
        <p:nvSpPr>
          <p:cNvPr id="6" name="文本框 5"/>
          <p:cNvSpPr txBox="1"/>
          <p:nvPr/>
        </p:nvSpPr>
        <p:spPr>
          <a:xfrm>
            <a:off x="708660" y="4155440"/>
            <a:ext cx="48126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rgbClr val="FF0000"/>
                </a:solidFill>
              </a:rPr>
              <a:t>本视频没有声音！！</a:t>
            </a:r>
            <a:endParaRPr lang="zh-CN" alt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701165" y="-234058"/>
            <a:ext cx="9144000" cy="2187001"/>
          </a:xfrm>
        </p:spPr>
        <p:txBody>
          <a:bodyPr>
            <a:normAutofit/>
          </a:bodyPr>
          <a:lstStyle/>
          <a:p>
            <a:r>
              <a:rPr lang="zh-CN" altLang="en-US">
                <a:sym typeface="+mn-ea"/>
              </a:rPr>
              <a:t>边狱巴士第十章</a:t>
            </a:r>
            <a:br>
              <a:rPr lang="zh-CN" altLang="en-US">
                <a:sym typeface="+mn-ea"/>
              </a:rPr>
            </a:br>
            <a:r>
              <a:rPr lang="zh-CN" altLang="en-US">
                <a:sym typeface="+mn-ea"/>
              </a:rPr>
              <a:t>第一周个人</a:t>
            </a:r>
            <a:r>
              <a:rPr lang="en-US" altLang="zh-CN">
                <a:sym typeface="+mn-ea"/>
              </a:rPr>
              <a:t>ai</a:t>
            </a:r>
            <a:r>
              <a:rPr lang="zh-CN" altLang="en-US">
                <a:sym typeface="+mn-ea"/>
              </a:rPr>
              <a:t>汉化分享</a:t>
            </a:r>
            <a:endParaRPr lang="zh-CN" altLang="en-US"/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>
          <a:xfrm>
            <a:off x="513715" y="1985645"/>
            <a:ext cx="11327130" cy="4734560"/>
          </a:xfrm>
        </p:spPr>
        <p:txBody>
          <a:bodyPr>
            <a:normAutofit lnSpcReduction="10000"/>
          </a:bodyPr>
          <a:lstStyle/>
          <a:p>
            <a:pPr algn="l"/>
            <a:r>
              <a:rPr lang="zh-CN" altLang="en-US" sz="2000">
                <a:latin typeface="+mn-ea"/>
                <a:ea typeface="+mn-ea"/>
                <a:cs typeface="+mn-ea"/>
              </a:rPr>
              <a:t>本汉化全程使用</a:t>
            </a:r>
            <a:r>
              <a:rPr lang="en-US" altLang="zh-CN" sz="2000">
                <a:latin typeface="+mn-ea"/>
                <a:ea typeface="+mn-ea"/>
                <a:cs typeface="+mn-ea"/>
              </a:rPr>
              <a:t>deepv4.1-flash</a:t>
            </a:r>
            <a:r>
              <a:rPr lang="zh-CN" altLang="en-US" sz="2000">
                <a:latin typeface="+mn-ea"/>
                <a:ea typeface="+mn-ea"/>
                <a:cs typeface="+mn-ea"/>
              </a:rPr>
              <a:t>模型进行翻译。</a:t>
            </a:r>
            <a:endParaRPr lang="zh-CN" altLang="en-US" sz="2000">
              <a:latin typeface="+mn-ea"/>
              <a:ea typeface="+mn-ea"/>
              <a:cs typeface="+mn-ea"/>
            </a:endParaRPr>
          </a:p>
          <a:p>
            <a:pPr algn="l"/>
            <a:r>
              <a:rPr lang="zh-CN" altLang="en-US" sz="2000">
                <a:latin typeface="+mn-ea"/>
                <a:ea typeface="+mn-ea"/>
                <a:cs typeface="+mn-ea"/>
              </a:rPr>
              <a:t>建立在"</a:t>
            </a:r>
            <a:r>
              <a:rPr lang="zh-CN" altLang="en-US" sz="2400">
                <a:solidFill>
                  <a:srgbClr val="FF0000"/>
                </a:solidFill>
                <a:latin typeface="+mn-ea"/>
                <a:ea typeface="+mn-ea"/>
                <a:cs typeface="+mn-ea"/>
              </a:rPr>
              <a:t>都市零协会汉化组</a:t>
            </a:r>
            <a:r>
              <a:rPr lang="zh-CN" altLang="en-US" sz="2000">
                <a:latin typeface="+mn-ea"/>
                <a:ea typeface="+mn-ea"/>
                <a:cs typeface="+mn-ea"/>
              </a:rPr>
              <a:t>"的过往汉化、月亮计划过往游戏汉化数据基础之上。</a:t>
            </a:r>
            <a:endParaRPr lang="zh-CN" altLang="en-US" sz="2000">
              <a:latin typeface="+mn-ea"/>
              <a:ea typeface="+mn-ea"/>
              <a:cs typeface="+mn-ea"/>
            </a:endParaRPr>
          </a:p>
          <a:p>
            <a:pPr algn="l"/>
            <a:r>
              <a:rPr lang="zh-CN" altLang="en-US" sz="2000">
                <a:latin typeface="+mn-ea"/>
                <a:ea typeface="+mn-ea"/>
                <a:cs typeface="+mn-ea"/>
              </a:rPr>
              <a:t>只做分享，并拒绝任何可能的商业化行为。</a:t>
            </a:r>
            <a:endParaRPr lang="zh-CN" altLang="en-US" sz="2000">
              <a:latin typeface="+mn-ea"/>
              <a:ea typeface="+mn-ea"/>
              <a:cs typeface="+mn-ea"/>
            </a:endParaRPr>
          </a:p>
          <a:p>
            <a:pPr algn="l"/>
            <a:r>
              <a:rPr lang="zh-CN" altLang="en-US" sz="2000">
                <a:latin typeface="+mn-ea"/>
                <a:ea typeface="+mn-ea"/>
                <a:cs typeface="+mn-ea"/>
              </a:rPr>
              <a:t>因</a:t>
            </a:r>
            <a:r>
              <a:rPr lang="en-US" altLang="zh-CN" sz="2000">
                <a:latin typeface="+mn-ea"/>
                <a:ea typeface="+mn-ea"/>
                <a:cs typeface="+mn-ea"/>
              </a:rPr>
              <a:t>up</a:t>
            </a:r>
            <a:r>
              <a:rPr lang="zh-CN" altLang="en-US" sz="2000">
                <a:latin typeface="+mn-ea"/>
                <a:ea typeface="+mn-ea"/>
                <a:cs typeface="+mn-ea"/>
              </a:rPr>
              <a:t>文化水平有限，且存在术语如</a:t>
            </a:r>
            <a:r>
              <a:rPr lang="zh-CN" altLang="en-US" sz="2400">
                <a:solidFill>
                  <a:srgbClr val="FF0000"/>
                </a:solidFill>
                <a:latin typeface="+mn-ea"/>
                <a:ea typeface="+mn-ea"/>
                <a:cs typeface="+mn-ea"/>
              </a:rPr>
              <a:t>以实玛利·</a:t>
            </a:r>
            <a:r>
              <a:rPr lang="en-US" altLang="zh-CN" sz="2400">
                <a:solidFill>
                  <a:srgbClr val="FF0000"/>
                </a:solidFill>
                <a:latin typeface="+mn-ea"/>
                <a:ea typeface="+mn-ea"/>
                <a:cs typeface="+mn-ea"/>
              </a:rPr>
              <a:t>Le Rouge</a:t>
            </a:r>
            <a:r>
              <a:rPr lang="zh-CN" altLang="en-US" sz="2400">
                <a:solidFill>
                  <a:srgbClr val="FF0000"/>
                </a:solidFill>
                <a:latin typeface="+mn-ea"/>
                <a:ea typeface="+mn-ea"/>
                <a:cs typeface="+mn-ea"/>
              </a:rPr>
              <a:t>精品店</a:t>
            </a:r>
            <a:r>
              <a:rPr lang="zh-CN" altLang="en-US" sz="2000">
                <a:latin typeface="+mn-ea"/>
                <a:ea typeface="+mn-ea"/>
                <a:cs typeface="+mn-ea"/>
              </a:rPr>
              <a:t>难以翻译为中文，故导致汉化不完全，希望各位仅把本汉化当作尝鲜使用，之后务必重新使用都市零协会提供的汉化。</a:t>
            </a:r>
            <a:endParaRPr lang="zh-CN" altLang="en-US" sz="2400">
              <a:solidFill>
                <a:srgbClr val="FF0000"/>
              </a:solidFill>
              <a:latin typeface="+mn-ea"/>
              <a:ea typeface="+mn-ea"/>
              <a:cs typeface="+mn-ea"/>
            </a:endParaRPr>
          </a:p>
          <a:p>
            <a:pPr algn="l"/>
            <a:endParaRPr lang="zh-CN" altLang="en-US" sz="2000">
              <a:latin typeface="+mn-ea"/>
              <a:ea typeface="+mn-ea"/>
              <a:cs typeface="+mn-ea"/>
            </a:endParaRPr>
          </a:p>
          <a:p>
            <a:pPr algn="l"/>
            <a:r>
              <a:rPr lang="zh-CN" altLang="en-US" sz="2000">
                <a:latin typeface="+mn-ea"/>
                <a:ea typeface="+mn-ea"/>
                <a:cs typeface="+mn-ea"/>
              </a:rPr>
              <a:t>本补丁在</a:t>
            </a:r>
            <a:r>
              <a:rPr lang="en-US" altLang="zh-CN" sz="2000">
                <a:latin typeface="+mn-ea"/>
                <a:ea typeface="+mn-ea"/>
                <a:cs typeface="+mn-ea"/>
              </a:rPr>
              <a:t>ubuntu26.04</a:t>
            </a:r>
            <a:r>
              <a:rPr lang="zh-CN" altLang="en-US" sz="2000">
                <a:latin typeface="+mn-ea"/>
                <a:ea typeface="+mn-ea"/>
                <a:cs typeface="+mn-ea"/>
              </a:rPr>
              <a:t>成功运行。</a:t>
            </a:r>
            <a:br>
              <a:rPr lang="zh-CN" altLang="en-US" sz="2000">
                <a:latin typeface="+mn-ea"/>
                <a:ea typeface="+mn-ea"/>
                <a:cs typeface="+mn-ea"/>
              </a:rPr>
            </a:br>
            <a:endParaRPr lang="zh-CN" altLang="en-US" sz="2000">
              <a:latin typeface="+mn-ea"/>
              <a:ea typeface="+mn-ea"/>
              <a:cs typeface="+mn-ea"/>
            </a:endParaRPr>
          </a:p>
          <a:p>
            <a:pPr algn="l"/>
            <a:r>
              <a:rPr lang="zh-CN" altLang="en-US" sz="2000">
                <a:latin typeface="+mn-ea"/>
                <a:ea typeface="+mn-ea"/>
                <a:cs typeface="+mn-ea"/>
              </a:rPr>
              <a:t>本</a:t>
            </a:r>
            <a:r>
              <a:rPr lang="en-US" altLang="zh-CN" sz="2000">
                <a:latin typeface="+mn-ea"/>
                <a:ea typeface="+mn-ea"/>
                <a:cs typeface="+mn-ea"/>
              </a:rPr>
              <a:t>ppt</a:t>
            </a:r>
            <a:r>
              <a:rPr lang="zh-CN" altLang="en-US" sz="2000">
                <a:latin typeface="+mn-ea"/>
                <a:ea typeface="+mn-ea"/>
                <a:cs typeface="+mn-ea"/>
              </a:rPr>
              <a:t>仅做简单演示</a:t>
            </a:r>
            <a:endParaRPr lang="zh-CN" altLang="en-US" sz="2000">
              <a:latin typeface="+mn-ea"/>
              <a:ea typeface="+mn-ea"/>
              <a:cs typeface="+mn-ea"/>
            </a:endParaRPr>
          </a:p>
          <a:p>
            <a:pPr algn="l"/>
            <a:endParaRPr lang="zh-CN" altLang="en-US" sz="2000">
              <a:latin typeface="+mn-ea"/>
              <a:ea typeface="+mn-ea"/>
              <a:cs typeface="+mn-ea"/>
            </a:endParaRPr>
          </a:p>
          <a:p>
            <a:pPr algn="l"/>
            <a:r>
              <a:rPr lang="zh-CN" altLang="en-US" sz="3600">
                <a:solidFill>
                  <a:srgbClr val="FF0000"/>
                </a:solidFill>
                <a:latin typeface="+mn-ea"/>
                <a:ea typeface="+mn-ea"/>
                <a:cs typeface="+mn-ea"/>
              </a:rPr>
              <a:t>本汉化未进行任何测试，可能出现任何文字显示问题</a:t>
            </a:r>
            <a:endParaRPr lang="zh-CN" altLang="en-US" sz="3600">
              <a:solidFill>
                <a:srgbClr val="FF0000"/>
              </a:solidFill>
              <a:latin typeface="+mn-ea"/>
              <a:ea typeface="+mn-ea"/>
              <a:cs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1210945" y="1336675"/>
            <a:ext cx="8042275" cy="2584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我将按照以下顺序展开</a:t>
            </a:r>
            <a:br>
              <a:rPr lang="zh-CN" altLang="en-US"/>
            </a:br>
            <a:br>
              <a:rPr lang="zh-CN" altLang="en-US"/>
            </a:br>
            <a:r>
              <a:rPr lang="en-US" altLang="zh-CN"/>
              <a:t>1.</a:t>
            </a:r>
            <a:r>
              <a:rPr lang="zh-CN" altLang="en-US"/>
              <a:t>翻译实机演示</a:t>
            </a:r>
            <a:br>
              <a:rPr lang="zh-CN" altLang="en-US"/>
            </a:br>
            <a:br>
              <a:rPr lang="zh-CN" altLang="en-US"/>
            </a:br>
            <a:r>
              <a:rPr lang="en-US" altLang="zh-CN"/>
              <a:t>2.</a:t>
            </a:r>
            <a:r>
              <a:rPr lang="zh-CN" altLang="en-US"/>
              <a:t>安装说明</a:t>
            </a:r>
            <a:br>
              <a:rPr lang="zh-CN" altLang="en-US"/>
            </a:br>
            <a:br>
              <a:rPr lang="zh-CN" altLang="en-US"/>
            </a:br>
            <a:r>
              <a:rPr lang="en-US" altLang="zh-CN"/>
              <a:t>3.</a:t>
            </a:r>
            <a:r>
              <a:rPr lang="zh-CN" altLang="en-US"/>
              <a:t>翻译工作流</a:t>
            </a:r>
            <a:r>
              <a:rPr lang="en-US" altLang="zh-CN"/>
              <a:t>(</a:t>
            </a:r>
            <a:r>
              <a:rPr lang="zh-CN" altLang="en-US"/>
              <a:t>视空闲时间待定，本文可能构建了完整的</a:t>
            </a:r>
            <a:r>
              <a:rPr lang="en-US" altLang="zh-CN"/>
              <a:t>ai</a:t>
            </a:r>
            <a:r>
              <a:rPr lang="zh-CN" altLang="en-US"/>
              <a:t>翻译流范式</a:t>
            </a:r>
            <a:r>
              <a:rPr lang="en-US" altLang="zh-CN"/>
              <a:t>)</a:t>
            </a:r>
            <a:br>
              <a:rPr lang="zh-CN" altLang="en-US"/>
            </a:br>
            <a:br>
              <a:rPr lang="zh-CN" altLang="en-US"/>
            </a:br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048000" y="120967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 sz="4000">
                <a:sym typeface="+mn-ea"/>
              </a:rPr>
              <a:t>翻译实机演示</a:t>
            </a:r>
            <a:endParaRPr lang="zh-CN" altLang="en-US" sz="4000">
              <a:sym typeface="+mn-e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275" y="1078865"/>
            <a:ext cx="10760075" cy="557530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930275" y="450850"/>
            <a:ext cx="41268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新人格及对应风味文本</a:t>
            </a:r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/home/shb/图片/截图/截图 2026-09-17 15-31-30.png截图 2026-09-17 15-31-30"/>
          <p:cNvPicPr>
            <a:picLocks noChangeAspect="1"/>
          </p:cNvPicPr>
          <p:nvPr/>
        </p:nvPicPr>
        <p:blipFill>
          <a:blip r:embed="rId1"/>
          <a:srcRect l="6" r="6"/>
          <a:stretch>
            <a:fillRect/>
          </a:stretch>
        </p:blipFill>
        <p:spPr>
          <a:xfrm>
            <a:off x="930275" y="1078865"/>
            <a:ext cx="10760075" cy="557530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930275" y="450850"/>
            <a:ext cx="41268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新人格及对应风味文本</a:t>
            </a:r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/home/shb/图片/截图/截图 2026-09-17 15-38-35.png截图 2026-09-17 15-38-35"/>
          <p:cNvPicPr>
            <a:picLocks noChangeAspect="1"/>
          </p:cNvPicPr>
          <p:nvPr/>
        </p:nvPicPr>
        <p:blipFill>
          <a:blip r:embed="rId1"/>
          <a:srcRect l="6" r="6" b="16993"/>
          <a:stretch>
            <a:fillRect/>
          </a:stretch>
        </p:blipFill>
        <p:spPr>
          <a:xfrm>
            <a:off x="930275" y="1078865"/>
            <a:ext cx="10760075" cy="462788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930275" y="450850"/>
            <a:ext cx="41268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主线</a:t>
            </a:r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930275" y="450850"/>
            <a:ext cx="41268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主线开篇第一句话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9705" y="1261110"/>
            <a:ext cx="9463405" cy="490347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833880" y="1360170"/>
            <a:ext cx="78441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多的就不贴了，成本巨大</a:t>
            </a:r>
            <a:r>
              <a:rPr lang="en-US" altLang="zh-CN"/>
              <a:t>(doge)</a:t>
            </a:r>
            <a:r>
              <a:rPr lang="zh-CN" altLang="en-US"/>
              <a:t>，希望大家能帮忙回点血吧。</a:t>
            </a:r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3880" y="2898140"/>
            <a:ext cx="8524240" cy="372491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833880" y="2343785"/>
            <a:ext cx="78441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感谢零协会汉化组开源</a:t>
            </a:r>
            <a:r>
              <a:rPr lang="en-US" altLang="zh-CN"/>
              <a:t>,</a:t>
            </a:r>
            <a:r>
              <a:rPr lang="zh-CN" altLang="en-US"/>
              <a:t>零协的恩情还不完。</a:t>
            </a:r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434</Words>
  <Application>WPS 演示</Application>
  <PresentationFormat>宽屏</PresentationFormat>
  <Paragraphs>39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2" baseType="lpstr">
      <vt:lpstr>Arial</vt:lpstr>
      <vt:lpstr>宋体</vt:lpstr>
      <vt:lpstr>Wingdings</vt:lpstr>
      <vt:lpstr>DejaVu Sans</vt:lpstr>
      <vt:lpstr>Calibri Light</vt:lpstr>
      <vt:lpstr>Noto Serif CJK SC</vt:lpstr>
      <vt:lpstr>微软雅黑</vt:lpstr>
      <vt:lpstr>宋体</vt:lpstr>
      <vt:lpstr>Arial Unicode MS</vt:lpstr>
      <vt:lpstr>Calibri</vt:lpstr>
      <vt:lpstr>OpenSymbol</vt:lpstr>
      <vt:lpstr>WPS</vt:lpstr>
      <vt:lpstr>PowerPoint 演示文稿</vt:lpstr>
      <vt:lpstr>边狱巴士第一周汉化分享</vt:lpstr>
      <vt:lpstr>边狱巴士第一周汉化分享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shb</cp:lastModifiedBy>
  <cp:revision>10</cp:revision>
  <dcterms:created xsi:type="dcterms:W3CDTF">2026-09-17T07:48:05Z</dcterms:created>
  <dcterms:modified xsi:type="dcterms:W3CDTF">2026-09-17T07:48:05Z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2052-12.1.2.28080</vt:lpwstr>
  </property>
  <property fmtid="{D5CDD505-2E9C-101B-9397-08002B2CF9AE}" pid="3" name="ICV">
    <vt:lpwstr>5ED746C18DD72F18359BAB6A31C34730_43</vt:lpwstr>
  </property>
</Properties>
</file>